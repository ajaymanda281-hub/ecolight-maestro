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2011680" cy="2011680"/>
          </a:xfrm>
          <a:prstGeom prst="ellipse">
            <a:avLst/>
          </a:prstGeom>
          <a:solidFill>
            <a:srgbClr val="F2B441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1005840"/>
            <a:ext cx="1097280" cy="1097280"/>
          </a:xfrm>
          <a:prstGeom prst="ellipse">
            <a:avLst/>
          </a:prstGeom>
          <a:solidFill>
            <a:srgbClr val="F2B441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ECOLIGHT MAESTRO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337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Light Intensity Based Street Light Automation using LPC2129 ARM7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4114800"/>
            <a:ext cx="2011680" cy="0"/>
          </a:xfrm>
          <a:prstGeom prst="line">
            <a:avLst/>
          </a:prstGeom>
          <a:noFill/>
          <a:ln w="31750">
            <a:solidFill>
              <a:srgbClr val="F2B4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Manda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Electrical &amp; Electronics Engineering  |  Godavari Institute of Engineering and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7830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street lights stay ON for fixed durations, regardless of actual conditions.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32918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leads to significant, avoidable energy wastage across cities, campuses, and industrial sites.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0" y="1463040"/>
            <a:ext cx="557784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0" y="182880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309360" y="32004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must BOTH be true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light turns 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42062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Ecolight Maestro fixes this with dual-condition automation: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scheduling + real-time light sensing.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60020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power wastage in street lighting systems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4963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96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49631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operation based on environmental conditions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39242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92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39242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user-friendly RTC configuration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28853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88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28853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ARM7 peripheral integration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51846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184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518464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interrupt-driven embedded design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8308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2B44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 Management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date &amp; day display with keypad-editable parameters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4526280" y="178308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2B441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0116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Light Sensing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26280" y="24688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+ ADC for automatic day/night detection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8275320" y="178308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2B441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20116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Control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75320" y="24688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Dual-condition verification switches LEDs ON/OFF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02336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2B44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519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Keypad Interface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7091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4x4 matrix keypad, menu-driven configuration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97680" y="37947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4526280" y="402336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2B441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42519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Interrupt-Driven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26280" y="47091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EINT0 gives instant access to the config menu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46720" y="37947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24" name="Shape 22"/>
          <p:cNvSpPr/>
          <p:nvPr/>
        </p:nvSpPr>
        <p:spPr>
          <a:xfrm>
            <a:off x="8275320" y="402336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2B441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42519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Monitoring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75320" y="47091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time, date, ADC value &amp; system status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E3E8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(4x4 Matrix)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02336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E3E8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023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Sensor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(via ADC)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3360" y="237744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0" y="23774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LPC2129 ARM7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(RTC + ADC)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E3E8F7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822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 Module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0" y="173736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2B441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0" y="1737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LEDs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 / OFF)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0" y="402336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E3E8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4023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16x2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26080" y="2240280"/>
            <a:ext cx="1097280" cy="685800"/>
          </a:xfrm>
          <a:prstGeom prst="line">
            <a:avLst/>
          </a:prstGeom>
          <a:noFill/>
          <a:ln w="19050">
            <a:solidFill>
              <a:srgbClr val="5B64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3657600"/>
            <a:ext cx="1097280" cy="777240"/>
          </a:xfrm>
          <a:prstGeom prst="line">
            <a:avLst/>
          </a:prstGeom>
          <a:noFill/>
          <a:ln w="19050">
            <a:solidFill>
              <a:srgbClr val="5B64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1554480"/>
            <a:ext cx="0" cy="822960"/>
          </a:xfrm>
          <a:prstGeom prst="line">
            <a:avLst/>
          </a:prstGeom>
          <a:noFill/>
          <a:ln w="19050">
            <a:solidFill>
              <a:srgbClr val="5B64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2148840"/>
            <a:ext cx="1188720" cy="685800"/>
          </a:xfrm>
          <a:prstGeom prst="line">
            <a:avLst/>
          </a:prstGeom>
          <a:noFill/>
          <a:ln w="19050">
            <a:solidFill>
              <a:srgbClr val="5B64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3749040"/>
            <a:ext cx="1188720" cy="685800"/>
          </a:xfrm>
          <a:prstGeom prst="line">
            <a:avLst/>
          </a:prstGeom>
          <a:noFill/>
          <a:ln w="19050">
            <a:solidFill>
              <a:srgbClr val="5B64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inputs (keypad, LDR) plus scheduled RTC data feed the LPC2129's decision logic, which drives the street LEDs and updates the LCD.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Street Light Decision Logic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5B6485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 OFF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&lt; 18:00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ADC Value &gt; 300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48463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Time = 14:00:00  -&gt;  Result: LED OFF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6629400" y="1828800"/>
            <a:ext cx="457200" cy="45720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 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29400" y="24688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&gt;= 18:00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ADC Value &lt;= 300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48463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Time = 19:30:00, ADC = 180  -&gt;  Result: LED 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67512" y="265176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67512" y="265176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/ RTC / ADC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 rot="5400000">
            <a:off x="2651760" y="3200400"/>
            <a:ext cx="201168" cy="182880"/>
          </a:xfrm>
          <a:prstGeom prst="triangle">
            <a:avLst/>
          </a:prstGeom>
          <a:solidFill>
            <a:srgbClr val="F2B441"/>
          </a:solidFill>
          <a:ln/>
        </p:spPr>
      </p:sp>
      <p:sp>
        <p:nvSpPr>
          <p:cNvPr id="6" name="Shape 4"/>
          <p:cNvSpPr/>
          <p:nvPr/>
        </p:nvSpPr>
        <p:spPr>
          <a:xfrm>
            <a:off x="2889504" y="265176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3A4694"/>
          </a:solidFill>
          <a:ln/>
        </p:spPr>
      </p:sp>
      <p:sp>
        <p:nvSpPr>
          <p:cNvPr id="7" name="Text 5"/>
          <p:cNvSpPr/>
          <p:nvPr/>
        </p:nvSpPr>
        <p:spPr>
          <a:xfrm>
            <a:off x="2889504" y="265176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Time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LDR Value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rot="5400000">
            <a:off x="4873752" y="3200400"/>
            <a:ext cx="201168" cy="182880"/>
          </a:xfrm>
          <a:prstGeom prst="triangle">
            <a:avLst/>
          </a:prstGeom>
          <a:solidFill>
            <a:srgbClr val="F2B441"/>
          </a:solidFill>
          <a:ln/>
        </p:spPr>
      </p:sp>
      <p:sp>
        <p:nvSpPr>
          <p:cNvPr id="9" name="Shape 7"/>
          <p:cNvSpPr/>
          <p:nvPr/>
        </p:nvSpPr>
        <p:spPr>
          <a:xfrm>
            <a:off x="5111496" y="265176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111496" y="265176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Condition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 rot="5400000">
            <a:off x="7095744" y="3200400"/>
            <a:ext cx="201168" cy="182880"/>
          </a:xfrm>
          <a:prstGeom prst="triangle">
            <a:avLst/>
          </a:prstGeom>
          <a:solidFill>
            <a:srgbClr val="F2B441"/>
          </a:solidFill>
          <a:ln/>
        </p:spPr>
      </p:sp>
      <p:sp>
        <p:nvSpPr>
          <p:cNvPr id="12" name="Shape 10"/>
          <p:cNvSpPr/>
          <p:nvPr/>
        </p:nvSpPr>
        <p:spPr>
          <a:xfrm>
            <a:off x="7333488" y="265176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3A4694"/>
          </a:solidFill>
          <a:ln/>
        </p:spPr>
      </p:sp>
      <p:sp>
        <p:nvSpPr>
          <p:cNvPr id="13" name="Text 11"/>
          <p:cNvSpPr/>
          <p:nvPr/>
        </p:nvSpPr>
        <p:spPr>
          <a:xfrm>
            <a:off x="7333488" y="265176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LEDs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Update LCD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 rot="5400000">
            <a:off x="9317736" y="3200400"/>
            <a:ext cx="201168" cy="182880"/>
          </a:xfrm>
          <a:prstGeom prst="triangle">
            <a:avLst/>
          </a:prstGeom>
          <a:solidFill>
            <a:srgbClr val="F2B441"/>
          </a:solidFill>
          <a:ln/>
        </p:spPr>
      </p:sp>
      <p:sp>
        <p:nvSpPr>
          <p:cNvPr id="15" name="Shape 13"/>
          <p:cNvSpPr/>
          <p:nvPr/>
        </p:nvSpPr>
        <p:spPr>
          <a:xfrm>
            <a:off x="9555480" y="265176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555480" y="265176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EINT0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RTC Menu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4480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repeats continuously; an EINT0 trigger branches into the RTC configuration menu before returning to normal operation.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RTC Configuration Menu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via EINT0  (P0.16)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Hour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20440" y="2423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Minute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55080" y="2423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Second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17830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9189720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89720" y="2423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Day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520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" y="4069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34290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3520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520440" y="4069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Month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34290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3520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55080" y="4069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Year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052560" y="34290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2B441"/>
          </a:solidFill>
          <a:ln/>
        </p:spPr>
      </p:sp>
      <p:sp>
        <p:nvSpPr>
          <p:cNvPr id="26" name="Text 24"/>
          <p:cNvSpPr/>
          <p:nvPr/>
        </p:nvSpPr>
        <p:spPr>
          <a:xfrm>
            <a:off x="9189720" y="3520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89720" y="4069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Menu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&amp; Future Enhancements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Smart Street Lighting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Smart Cities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Campus Lighting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023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Industrial Lighting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286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Wireless Monitoring using IoT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629400" y="2788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GSM-Based Fault Reporting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29400" y="3291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Solar Powered Street Lights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29400" y="3794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Motion Detection for Adaptive Brightness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29400" y="4297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Cloud-Based Energy Analytics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29400" y="4800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Mobile Application Integration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2B441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9875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Ecolight Maestro pairs RTC-based scheduling with real-time light sensing on the LPC2129 ARM7 platform, cutting unnecessary energy use while giving users direct, keypad-driven control over the clock — a solid, low-cost foundation for future IoT and solar-powered upgrades.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3931920"/>
            <a:ext cx="2011680" cy="0"/>
          </a:xfrm>
          <a:prstGeom prst="line">
            <a:avLst/>
          </a:prstGeom>
          <a:noFill/>
          <a:ln w="31750">
            <a:solidFill>
              <a:srgbClr val="F2B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160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Manda  |  B.Tech, Electrical &amp; Electronics Engineering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2026-08-07T19:09:26Z</dcterms:created>
  <dcterms:modified xsi:type="dcterms:W3CDTF">2026-08-07T19:09:26Z</dcterms:modified>
</cp:coreProperties>
</file>